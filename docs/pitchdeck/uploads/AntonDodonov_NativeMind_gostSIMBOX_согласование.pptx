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https://smart-visa.boi.go.th/smart/pages/smart_s.html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https://github.com/gostSIMBOX/simbox-desktop-v2014/commits/master/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Founder-supplied interface screenshots dated 28 August 2026; historical dataset displayed in a redesigned interface. Personal and device identifiers redacted for submission.</a:t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https://github.com/gostSIMBOX/simbox-app/blob/master/README.md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https://github.com/gostSIMBOX/simbox-desktop-v2014/blob/master/README.md</a:t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https://github.com/gostSIMBOX/simbox-app/blob/master/README.md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https://github.com/gostSIMBOX/simbox-desktop-v2014/blob/master/README.md</a:t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https://github.com/gostSIMBOX/simbox-app/blob/master/README.md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https://github.com/gostSIMBOX/simbox-app/blob/master/README.md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https://github.com/gostSIMBOX/simbox-desktop-v2014/blob/master/README.md</a:t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https://github.com/gostSIMBOX/simbox-app/blob/master/README.md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https://github.com/gostSIMBOX/simbox-desktop-v2014/blob/master/README.md</a:t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https://github.com/gostSIMBOX/simbox-desktop-v2014/commits/master/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https://github.com/gostSIMBOX/simbox-desktop-v2014/blob/master/README.md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</a:t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https://www.nia.or.th/segment/startup-social-enterprise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https://smart-visa.boi.go.th/document/Checklist_Smart_S.pdf</a:t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https://www.nia.or.th/segment/startup-social-enterprise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https://smart-visa.boi.go.th/smart/pages/faq-en.html</a:t>
            </a:r>
            <a:endParaRPr/>
          </a:p>
        </p:txBody>
      </p:sp>
      <p:sp>
        <p:nvSpPr>
          <p:cNvPr id="252" name="Google Shape;25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https://github.com/pulpoff/asterisk-chan-dongle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https://github.com/pulpoff/gsm2sip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https://github.com/pulpoff/gsm2sip/commits/main/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https://github.com/gostSIMBOX/simbox-desktop-v2014/commits/master/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https://github.com/gostSIMBOX/react-native-gsm-sip-gateway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https://github.com/gostSIMBOX/simbox/blob/main1/flows/adapter/sdd-dongle-type-nm-stereo-loopback/01-requirements.md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https://github.com/gostSIMBOX/simbox/blob/main1/flows/adapter/sdd-dongle-type-nm-mono-loopback/01-requirements.md</a:t>
            </a:r>
            <a:endParaRPr/>
          </a:p>
        </p:txBody>
      </p:sp>
      <p:sp>
        <p:nvSpPr>
          <p:cNvPr id="282" name="Google Shape;28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https://smart-visa.boi.go.th/document/Checklist_Smart_S.pdf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https://www.nia.or.th/segment/startup-social-enterprise</a:t>
            </a:r>
            <a:endParaRPr/>
          </a:p>
        </p:txBody>
      </p:sp>
      <p:sp>
        <p:nvSpPr>
          <p:cNvPr id="313" name="Google Shape;31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https://smart-visa.boi.go.th/document/Checklist_Smart_S.pdf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https://smart-visa.boi.go.th/smart/pages/smart_s.html</a:t>
            </a:r>
            <a:endParaRPr/>
          </a:p>
        </p:txBody>
      </p:sp>
      <p:sp>
        <p:nvSpPr>
          <p:cNvPr id="339" name="Google Shape;33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https://smart-visa.boi.go.th/document/Checklist_Smart_S.pdf</a:t>
            </a:r>
            <a:endParaRPr/>
          </a:p>
        </p:txBody>
      </p:sp>
      <p:sp>
        <p:nvSpPr>
          <p:cNvPr id="363" name="Google Shape;36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https://smart-visa.boi.go.th/document/Checklist_Smart_S.pdf</a:t>
            </a:r>
            <a:endParaRPr/>
          </a:p>
        </p:txBody>
      </p:sp>
      <p:sp>
        <p:nvSpPr>
          <p:cNvPr id="394" name="Google Shape;39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https://smart-visa.boi.go.th/smart/pages/smart_s.html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https://smart-visa.boi.go.th/smart/pages/faq-en.html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https://smart-visa.boi.go.th/document/Checklist_Smart_S.pdf</a:t>
            </a:r>
            <a:endParaRPr/>
          </a:p>
        </p:txBody>
      </p:sp>
      <p:sp>
        <p:nvSpPr>
          <p:cNvPr id="435" name="Google Shape;4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91500" y="0"/>
            <a:ext cx="4000500" cy="6858000"/>
          </a:xfrm>
          <a:prstGeom prst="rect">
            <a:avLst/>
          </a:prstGeom>
          <a:solidFill>
            <a:srgbClr val="69C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5800" y="609600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9C8F2"/>
                </a:solidFill>
              </a:rPr>
              <a:t>SMART S 2026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85800" y="1524000"/>
            <a:ext cx="7048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</a:rPr>
              <a:t>gostSIMBOX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85800" y="257175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FFFFFF"/>
                </a:solidFill>
              </a:rPr>
              <a:t>Software-defined GSM/SIP infrastructure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FFFFFF"/>
                </a:solidFill>
              </a:rPr>
              <a:t>for controllable telecom gateways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85800" y="4095750"/>
            <a:ext cx="6286500" cy="38100"/>
          </a:xfrm>
          <a:prstGeom prst="rect">
            <a:avLst/>
          </a:prstGeom>
          <a:solidFill>
            <a:srgbClr val="69C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85800" y="4457700"/>
            <a:ext cx="666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NativeMind Co., Ltd. • Qualification endorsement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85800" y="5048250"/>
            <a:ext cx="6572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5E2EA"/>
                </a:solidFill>
              </a:rPr>
              <a:t>Verified public commit history, current refactoring and a clearly separated Android roadmap.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144000" y="5619750"/>
            <a:ext cx="2095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102A43"/>
                </a:solidFill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Public commit history verifies a product lineage beginning in March 2014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02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85800" y="16573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856B"/>
                </a:solidFill>
              </a:rPr>
              <a:t>VERIFIED PUBLIC COMMIT HISTORY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85800" y="2057400"/>
            <a:ext cx="4762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43"/>
                </a:solidFill>
              </a:rPr>
              <a:t>141 commits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85800" y="262890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First public commit: 20 March 2014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85800" y="3143250"/>
            <a:ext cx="4762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E6670"/>
                </a:solidFill>
              </a:rPr>
              <a:t>Public commits document active development in 2014 and 2017, followed by renewed refactoring and architecture work in 2026.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191250" y="1695450"/>
            <a:ext cx="5314950" cy="33718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534150" y="2000250"/>
            <a:ext cx="1714500" cy="266700"/>
          </a:xfrm>
          <a:prstGeom prst="rect">
            <a:avLst/>
          </a:prstGeom>
          <a:solidFill>
            <a:srgbClr val="B56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610350" y="2000250"/>
            <a:ext cx="156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</a:rPr>
              <a:t>FOUNDER-REPORTED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534150" y="2457450"/>
            <a:ext cx="44767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Commercial operation for approximately two years for AltComTech LLC, London, managed by Gurgen Harapetyan.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534150" y="3524250"/>
            <a:ext cx="44767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Deployed across multiple Ubuntu servers using Huawei E171, E173 and E1550 USB GSM dongles.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85800" y="529590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B56A00"/>
                </a:solidFill>
              </a:rPr>
              <a:t>Customer records or a reference letter should accompany this claim when available.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Historical operating data appears in a redesigned 2026 interface</a:t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03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85800" y="1657350"/>
            <a:ext cx="5067300" cy="3352800"/>
          </a:xfrm>
          <a:prstGeom prst="rect">
            <a:avLst/>
          </a:prstGeom>
          <a:solidFill>
            <a:srgbClr val="ECEFF1"/>
          </a:solidFill>
          <a:ln cap="flat" cmpd="sng" w="9525">
            <a:solidFill>
              <a:srgbClr val="BBC2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611" y="1752600"/>
            <a:ext cx="4527678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5981700" y="1657350"/>
            <a:ext cx="5524500" cy="3352800"/>
          </a:xfrm>
          <a:prstGeom prst="rect">
            <a:avLst/>
          </a:prstGeom>
          <a:solidFill>
            <a:srgbClr val="ECEFF1"/>
          </a:solidFill>
          <a:ln cap="flat" cmpd="sng" w="9525">
            <a:solidFill>
              <a:srgbClr val="BBC2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6950" y="1968996"/>
            <a:ext cx="5334000" cy="272950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85800" y="5219700"/>
            <a:ext cx="1809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856B"/>
                </a:solidFill>
              </a:rPr>
              <a:t>EVIDENCE SHOWN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400300" y="5124450"/>
            <a:ext cx="91059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111"/>
                </a:solidFill>
              </a:rPr>
              <a:t>SIM inventory, carrier state, balance, dongle mapping, calls, SMS/USSD and operational controls are represented in the supplied interface snapshots.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85800" y="5810250"/>
            <a:ext cx="10820400" cy="32385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38200" y="5810250"/>
            <a:ext cx="1051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PRIVACY-SAFE COPY  •  Phone numbers, private IP address, IMEI, IMSI and log identifiers are redacted.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Telecom gateways remain fragmented across hardware, PBX and operations</a:t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04</a:t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85800" y="1733550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9C8F2"/>
                </a:solidFill>
              </a:rPr>
              <a:t>01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85800" y="226695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DEVICE LAYER</a:t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685800" y="2724150"/>
            <a:ext cx="3143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11111"/>
                </a:solidFill>
              </a:rPr>
              <a:t>USB GSM modems, SIMs and device-specific control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85800" y="4076700"/>
            <a:ext cx="314325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286250" y="1733550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9C8F2"/>
                </a:solidFill>
              </a:rPr>
              <a:t>02</a:t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286250" y="226695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TELEPHONY LAYER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4286250" y="2724150"/>
            <a:ext cx="3143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11111"/>
                </a:solidFill>
              </a:rPr>
              <a:t>Asterisk/SIP routing, call state and audio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286250" y="4076700"/>
            <a:ext cx="314325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7886700" y="1733550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9C8F2"/>
                </a:solidFill>
              </a:rPr>
              <a:t>03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886700" y="226695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OPERATIONS LAYER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7886700" y="2724150"/>
            <a:ext cx="3143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11111"/>
                </a:solidFill>
              </a:rPr>
              <a:t>SMS, USSD, status, configuration and diagnostics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7886700" y="4076700"/>
            <a:ext cx="314325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85800" y="4629150"/>
            <a:ext cx="10820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02A43"/>
                </a:solidFill>
              </a:rPr>
              <a:t>The startup opportunity is an orchestration layer that turns these separate components into a configurable gateway product.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The innovation is orchestration—not an unsupported AI claim</a:t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05</a:t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685800" y="16573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976D2"/>
                </a:solidFill>
              </a:rPr>
              <a:t>DOCUMENTED DIFFERENTIATION</a:t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685800" y="20955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990600" y="2095500"/>
            <a:ext cx="47910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Bidirectional SIP ↔ GSM gateway behavior.</a:t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685800" y="276225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990600" y="2762250"/>
            <a:ext cx="47910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SMPP-to-GSM SMS flow and USSD operations.</a:t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85800" y="34290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990600" y="3429000"/>
            <a:ext cx="47910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A common Flutter-facing bridge over telephony services.</a:t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685800" y="409575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990600" y="4095750"/>
            <a:ext cx="47910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Linux path from Flutter through Dart FFI into libsimbox.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477000" y="1733550"/>
            <a:ext cx="5029200" cy="3429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6819900" y="2038350"/>
            <a:ext cx="4286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</a:rPr>
              <a:t>What we will not claim</a:t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819900" y="264795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7124700" y="2647950"/>
            <a:ext cx="3886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FFFFF"/>
                </a:solidFill>
              </a:rPr>
              <a:t>No generative AI product claim.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819900" y="32004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124700" y="3200400"/>
            <a:ext cx="3886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FFFFF"/>
                </a:solidFill>
              </a:rPr>
              <a:t>No market traction or customer claim.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819900" y="375285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7124700" y="3752850"/>
            <a:ext cx="3886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FFFFF"/>
                </a:solidFill>
              </a:rPr>
              <a:t>No production-scale reliability claim.</a:t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819900" y="43053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7124700" y="4305300"/>
            <a:ext cx="3886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FFFFF"/>
                </a:solidFill>
              </a:rPr>
              <a:t>No ownership claim without documents.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85800" y="5524500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02A43"/>
                </a:solidFill>
              </a:rPr>
              <a:t>Positioning: a software-defined telecom gateway platform with evidence-backed device, protocol and application integration.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Current evidence and roadmap are explicitly separated</a:t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06</a:t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685800" y="171450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6856B"/>
                </a:solidFill>
              </a:rPr>
              <a:t>IMPLEMENTED / DOCUMENTED</a:t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6572250" y="1714500"/>
            <a:ext cx="4933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B56A00"/>
                </a:solidFill>
              </a:rPr>
              <a:t>2026 REFACTORING &amp; ROADMAP</a:t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685800" y="22098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990600" y="220980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Operational Ubuntu lineage with Huawei USB dongles</a:t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85800" y="27813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990600" y="278130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Asterisk-based GSM routing components</a:t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685800" y="33528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990600" y="335280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Carrier configuration, SMS and USSD automation</a:t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685800" y="39243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990600" y="392430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Current Flutter gateway status and control surfaces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685800" y="44958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990600" y="449580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Linux real-modem driver path documented</a:t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6572250" y="22098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6877050" y="2209800"/>
            <a:ext cx="4629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Modular cross-platform architecture</a:t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572250" y="27813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877050" y="2781300"/>
            <a:ext cx="4629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Desktop targets: Ubuntu, macOS and Windows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6572250" y="33528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877050" y="3352800"/>
            <a:ext cx="4629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Android device as an integrated GSM–SIP gateway</a:t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6572250" y="39243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6877050" y="3924300"/>
            <a:ext cx="4629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Commercial fleet management and remote operations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572250" y="44958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6877050" y="4495800"/>
            <a:ext cx="4629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Thai pilot package and support model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A layered architecture connects telecom hardware to operator workflows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07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2514600" y="3143250"/>
            <a:ext cx="285750" cy="38100"/>
          </a:xfrm>
          <a:prstGeom prst="rect">
            <a:avLst/>
          </a:prstGeom>
          <a:solidFill>
            <a:srgbClr val="69C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85800" y="2381250"/>
            <a:ext cx="1828800" cy="15621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819150" y="2552700"/>
            <a:ext cx="1562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976D2"/>
                </a:solidFill>
              </a:rPr>
              <a:t>OPERATOR APP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819150" y="3028950"/>
            <a:ext cx="1562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111"/>
                </a:solidFill>
              </a:rPr>
              <a:t>Flutter UI • status • settings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629150" y="3143250"/>
            <a:ext cx="285750" cy="38100"/>
          </a:xfrm>
          <a:prstGeom prst="rect">
            <a:avLst/>
          </a:prstGeom>
          <a:solidFill>
            <a:srgbClr val="69C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2800350" y="2381250"/>
            <a:ext cx="1828800" cy="15621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2933700" y="2552700"/>
            <a:ext cx="1562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</a:rPr>
              <a:t>GATEWAY BRIDGE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2933700" y="3028950"/>
            <a:ext cx="1562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SIP • SMPP • routing • events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6743700" y="3143250"/>
            <a:ext cx="285750" cy="38100"/>
          </a:xfrm>
          <a:prstGeom prst="rect">
            <a:avLst/>
          </a:prstGeom>
          <a:solidFill>
            <a:srgbClr val="69C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914900" y="2381250"/>
            <a:ext cx="1828800" cy="15621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048250" y="2552700"/>
            <a:ext cx="1562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976D2"/>
                </a:solidFill>
              </a:rPr>
              <a:t>TELEPHONY SERVICES</a:t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048250" y="3028950"/>
            <a:ext cx="1562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111"/>
                </a:solidFill>
              </a:rPr>
              <a:t>Calls • SMS • USSD • configuration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858250" y="3143250"/>
            <a:ext cx="285750" cy="38100"/>
          </a:xfrm>
          <a:prstGeom prst="rect">
            <a:avLst/>
          </a:prstGeom>
          <a:solidFill>
            <a:srgbClr val="69C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7029450" y="2381250"/>
            <a:ext cx="1828800" cy="15621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7162800" y="2552700"/>
            <a:ext cx="1562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976D2"/>
                </a:solidFill>
              </a:rPr>
              <a:t>NATIVE / PBX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7162800" y="3028950"/>
            <a:ext cx="1562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111"/>
                </a:solidFill>
              </a:rPr>
              <a:t>Dart FFI • libsimbox • Asterisk</a:t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9144000" y="2381250"/>
            <a:ext cx="1828800" cy="15621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9277350" y="2552700"/>
            <a:ext cx="1562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976D2"/>
                </a:solidFill>
              </a:rPr>
              <a:t>GSM HARDWARE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9277350" y="3028950"/>
            <a:ext cx="1562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111"/>
                </a:solidFill>
              </a:rPr>
              <a:t>USB modems • SIM resources</a:t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85800" y="44958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E6670"/>
                </a:solidFill>
              </a:rPr>
              <a:t>Evidence basis: public README and repository structure. Exact production topology and deployment model require founder confirmation.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The code is visible; the company’s IP position must be documented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08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85800" y="1714500"/>
            <a:ext cx="257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6856B"/>
                </a:solidFill>
              </a:rPr>
              <a:t>PUBLIC EVIDENCE</a:t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333750" y="1676400"/>
            <a:ext cx="8172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Repositories, READMEs, architecture descriptions and a NativeMindNONC license reference are visible.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685800" y="241935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685800" y="2714625"/>
            <a:ext cx="257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6856B"/>
                </a:solidFill>
              </a:rPr>
              <a:t>ATTRIBUTION EVIDENCE</a:t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3333750" y="2676525"/>
            <a:ext cx="8172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The public README names Anton Dodonov and NativeMind.net.</a:t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685800" y="3419475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685800" y="3714750"/>
            <a:ext cx="257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6856B"/>
                </a:solidFill>
              </a:rPr>
              <a:t>DOCUMENTED AUTHORIZATION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3333750" y="3676650"/>
            <a:ext cx="8172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Anton grants NativeMind Co., Ltd. a worldwide, royalty-free, non-exclusive right to use Anton-controlled materials for authorized services.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685800" y="44196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685800" y="4714875"/>
            <a:ext cx="257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56A00"/>
                </a:solidFill>
              </a:rPr>
              <a:t>ACTION BEFORE SUBMISSION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3333750" y="4676775"/>
            <a:ext cx="8172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111"/>
                </a:solidFill>
              </a:rPr>
              <a:t>Sign and attach the authorization letter; complete the contributor list, third-party licence schedule and company approval.</a:t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685800" y="5419725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The founder record supports execution credibility</a:t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09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685800" y="1752600"/>
            <a:ext cx="438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2A43"/>
                </a:solidFill>
              </a:rPr>
              <a:t>ANTON DODONOV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685800" y="230505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E6670"/>
                </a:solidFill>
              </a:rPr>
              <a:t>Technical founder / proposed SMART S applicant</a:t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5810250" y="1695450"/>
            <a:ext cx="5695950" cy="31432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6153150" y="203835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6457950" y="203835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Verified public commit history dates to 20 March 2014.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6153150" y="268605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6457950" y="268605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The 141-commit record covers GSM devices, Asterisk routing and operational automation.</a:t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153150" y="333375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6457950" y="333375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Current work documents Flutter gateway surfaces and Linux/native integration.</a:t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6153150" y="398145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6457950" y="398145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111"/>
                </a:solidFill>
              </a:rPr>
              <a:t>The 2026 objective modernizes a proven technical base—not an application-only prototype.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685800" y="51816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976D2"/>
                </a:solidFill>
              </a:rPr>
              <a:t>Submit CV, education and experience evidence alongside the GitHub technical record.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A repeatable model can combine software access, management and support</a:t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10</a:t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685800" y="173355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9C8F2"/>
                </a:solidFill>
              </a:rPr>
              <a:t>01</a:t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685800" y="228600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SOFTWARE</a:t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685800" y="2724150"/>
            <a:ext cx="2286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Per gateway / device subscription</a:t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685800" y="3848100"/>
            <a:ext cx="22860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3390900" y="173355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9C8F2"/>
                </a:solidFill>
              </a:rPr>
              <a:t>02</a:t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3390900" y="228600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MANAGEMENT</a:t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3390900" y="2724150"/>
            <a:ext cx="2286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Cloud or on-prem fleet management</a:t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3390900" y="3848100"/>
            <a:ext cx="22860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096000" y="173355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9C8F2"/>
                </a:solidFill>
              </a:rPr>
              <a:t>03</a:t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6096000" y="228600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ENTERPRISE</a:t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6096000" y="2724150"/>
            <a:ext cx="2286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Integration, SLA and deployment support</a:t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6096000" y="3848100"/>
            <a:ext cx="22860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8801100" y="173355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9C8F2"/>
                </a:solidFill>
              </a:rPr>
              <a:t>04</a:t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8801100" y="228600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ECOSYSTEM</a:t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8801100" y="2724150"/>
            <a:ext cx="2286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SDK/API access and qualified partners</a:t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8801100" y="3848100"/>
            <a:ext cx="22860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685800" y="4572000"/>
            <a:ext cx="10820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56A00"/>
                </a:solidFill>
              </a:rPr>
              <a:t>Fastest path to early profit: sell fixed-scope technical audits and paid Ubuntu/Huawei gateway integrations now, with an upfront deposit; convert successful deployments into monthly support, monitoring and SLA contracts.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Revenue can scale if the product becomes standardized and remotely managed</a:t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11</a:t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2857500" y="2667000"/>
            <a:ext cx="533400" cy="38100"/>
          </a:xfrm>
          <a:prstGeom prst="rect">
            <a:avLst/>
          </a:prstGeom>
          <a:solidFill>
            <a:srgbClr val="69C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685800" y="2076450"/>
            <a:ext cx="2171700" cy="16192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857250" y="22288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976D2"/>
                </a:solidFill>
              </a:rPr>
              <a:t>1</a:t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857250" y="2628900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111"/>
                </a:solidFill>
              </a:rPr>
              <a:t>PACKAGE</a:t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857250" y="3009900"/>
            <a:ext cx="1828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E6670"/>
                </a:solidFill>
              </a:rPr>
              <a:t>Define supported hardware + installation</a:t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5562600" y="2667000"/>
            <a:ext cx="533400" cy="38100"/>
          </a:xfrm>
          <a:prstGeom prst="rect">
            <a:avLst/>
          </a:prstGeom>
          <a:solidFill>
            <a:srgbClr val="69C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3390900" y="2076450"/>
            <a:ext cx="2171700" cy="16192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3562350" y="22288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976D2"/>
                </a:solidFill>
              </a:rPr>
              <a:t>2</a:t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3562350" y="2628900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111"/>
                </a:solidFill>
              </a:rPr>
              <a:t>REPEAT</a:t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3562350" y="3009900"/>
            <a:ext cx="1828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E6670"/>
                </a:solidFill>
              </a:rPr>
              <a:t>Reuse the same software across gateways</a:t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8267700" y="2667000"/>
            <a:ext cx="533400" cy="38100"/>
          </a:xfrm>
          <a:prstGeom prst="rect">
            <a:avLst/>
          </a:prstGeom>
          <a:solidFill>
            <a:srgbClr val="69C8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6096000" y="2076450"/>
            <a:ext cx="2171700" cy="16192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6267450" y="22288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976D2"/>
                </a:solidFill>
              </a:rPr>
              <a:t>3</a:t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6267450" y="2628900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111"/>
                </a:solidFill>
              </a:rPr>
              <a:t>MANAGE</a:t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6267450" y="3009900"/>
            <a:ext cx="1828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E6670"/>
                </a:solidFill>
              </a:rPr>
              <a:t>Operate multiple devices from one control plane</a:t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8801100" y="2076450"/>
            <a:ext cx="2171700" cy="161925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8972550" y="22288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9C8F2"/>
                </a:solidFill>
              </a:rPr>
              <a:t>4</a:t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8972550" y="2628900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EXPAND</a:t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8972550" y="3009900"/>
            <a:ext cx="1828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FFFFF"/>
                </a:solidFill>
              </a:rPr>
              <a:t>Add partners, countries and enterprise tiers</a:t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685800" y="4333875"/>
            <a:ext cx="1082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02A43"/>
                </a:solidFill>
              </a:rPr>
              <a:t>Scale thesis to validate: recurring revenue grows with managed gateways while deployment and support cost per gateway declines.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Public evidence separates component forks, focused Android gateways and a broader stack</a:t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12</a:t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685800" y="1657350"/>
            <a:ext cx="10820400" cy="4953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800100" y="1657350"/>
            <a:ext cx="2762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</a:rPr>
              <a:t>PROJECT / EVIDENCE</a:t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3657600" y="1657350"/>
            <a:ext cx="3448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</a:rPr>
              <a:t>VERIFIED PUBLIC RECORD</a:t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7200900" y="165735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</a:rPr>
              <a:t>BENCHMARK INTERPRETATION</a:t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800100" y="2438400"/>
            <a:ext cx="2762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pulpoff / asterisk-chan-dongle</a:t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3657600" y="2438400"/>
            <a:ext cx="3448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Fork of bg111; Asterisk 20 support; public history begins in 2011.</a:t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7200900" y="24384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Adjacent open-source component. Close technical contact with Anton is founder-reported.</a:t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685800" y="30861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800100" y="3219450"/>
            <a:ext cx="2762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pulpoff / gsm2sip</a:t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3657600" y="3219450"/>
            <a:ext cx="3448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8 commits; first public commit 20 Feb 2026; Android path requires Magisk/root.</a:t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7200900" y="321945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Focused Android bridge tied to a specific rooted-device configuration.</a:t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685800" y="386715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800100" y="4000500"/>
            <a:ext cx="2762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gostSIMBOX lineage</a:t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3657600" y="4000500"/>
            <a:ext cx="3448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Desktop history begins 20 Mar 2014; Android gateway repository begins 8 Jan 2020.</a:t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7200900" y="400050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Broader evidence across USB modems, Asterisk, Android and cross-platform refactoring.</a:t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685800" y="46482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800100" y="4781550"/>
            <a:ext cx="2762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Passive jack loopback designs</a:t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3657600" y="4781550"/>
            <a:ext cx="3448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Stereo: 4 resistors + 47nF capacitor. Mono: 2 resistors. Public requirements committed by Anton.</a:t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7200900" y="478155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11111"/>
                </a:solidFill>
              </a:rPr>
              <a:t>Could reduce reliance on rooted audio capture; verify on target devices before claiming no-root operation.</a:t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685800" y="542925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685800" y="569595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B56A00"/>
                </a:solidFill>
              </a:rPr>
              <a:t>Date clarification: the verified 2014 lineage belongs to simbox-desktop-v2014—not the React Native repository.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Go-to-market should begin with a narrow, compliant Thai pilot</a:t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13</a:t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685800" y="16764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976D2"/>
                </a:solidFill>
              </a:rPr>
              <a:t>0–3 MONTHS</a:t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2552700" y="1676400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Customer discovery</a:t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5029200" y="1628775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670"/>
                </a:solidFill>
              </a:rPr>
              <a:t>Interview telecom integrators and legitimate enterprise gateway users.</a:t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685800" y="23622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685800" y="2676525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976D2"/>
                </a:solidFill>
              </a:rPr>
              <a:t>4–9 MONTHS</a:t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2552700" y="2676525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Pilot package</a:t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5029200" y="262890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670"/>
                </a:solidFill>
              </a:rPr>
              <a:t>Freeze supported hardware, deployment guide, support boundary and security controls.</a:t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685800" y="3362325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685800" y="36766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976D2"/>
                </a:solidFill>
              </a:rPr>
              <a:t>10–18 MONTHS</a:t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2552700" y="3676650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Paid validation</a:t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5029200" y="3629025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670"/>
                </a:solidFill>
              </a:rPr>
              <a:t>Convert selected pilots to subscriptions or enterprise support contracts.</a:t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685800" y="436245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685800" y="4676775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976D2"/>
                </a:solidFill>
              </a:rPr>
              <a:t>19–24 MONTHS</a:t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2552700" y="4676775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Channel expansion</a:t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5029200" y="462915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670"/>
                </a:solidFill>
              </a:rPr>
              <a:t>Train partners and expand only after repeatability is proven.</a:t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685800" y="5362575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Thailand can be the operating base for telecom software and technical capability</a:t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14</a:t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685800" y="1695450"/>
            <a:ext cx="304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76D2"/>
                </a:solidFill>
              </a:rPr>
              <a:t>DIRECT BENEFIT</a:t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685800" y="21717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990600" y="217170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Thai company commercializes a technical product.</a:t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685800" y="28575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990600" y="285750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Local software, integration and support capability.</a:t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685800" y="35433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990600" y="354330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Potential demand for Thai engineering and partner training.</a:t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685800" y="4229100"/>
            <a:ext cx="228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76D2"/>
                </a:solidFill>
              </a:rPr>
              <a:t>—</a:t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990600" y="422910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111"/>
                </a:solidFill>
              </a:rPr>
              <a:t>Exportable digital product and regional service revenue.</a:t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6477000" y="1752600"/>
            <a:ext cx="5029200" cy="333375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6819900" y="2076450"/>
            <a:ext cx="4286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9C8F2"/>
                </a:solidFill>
              </a:rPr>
              <a:t>Guardrail</a:t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6819900" y="2647950"/>
            <a:ext cx="41910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The business must demonstrate lawful telecom use, data/security controls and compliance with Thai regulations. The deck does not claim regulatory approval.</a:t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6819900" y="4419600"/>
            <a:ext cx="1714500" cy="266700"/>
          </a:xfrm>
          <a:prstGeom prst="rect">
            <a:avLst/>
          </a:prstGeom>
          <a:solidFill>
            <a:srgbClr val="B56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6896100" y="4419600"/>
            <a:ext cx="156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</a:rPr>
              <a:t>FOUNDER + LEGAL REVIEW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The first 24 months convert technical evidence into commercial proof</a:t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15</a:t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685800" y="1809750"/>
            <a:ext cx="1847850" cy="28575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838200" y="1981200"/>
            <a:ext cx="1543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76D2"/>
                </a:solidFill>
              </a:rPr>
              <a:t>M0–3</a:t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838200" y="2476500"/>
            <a:ext cx="1543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111"/>
                </a:solidFill>
              </a:rPr>
              <a:t>Confirm IP and scope</a:t>
            </a: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838200" y="3333750"/>
            <a:ext cx="1543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E6670"/>
                </a:solidFill>
              </a:rPr>
              <a:t>IP documents • legacy evidence • compliance review</a:t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2800350" y="1809750"/>
            <a:ext cx="1847850" cy="28575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2952750" y="1981200"/>
            <a:ext cx="1543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76D2"/>
                </a:solidFill>
              </a:rPr>
              <a:t>M4–6</a:t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2952750" y="2476500"/>
            <a:ext cx="1543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111"/>
                </a:solidFill>
              </a:rPr>
              <a:t>Complete modular core</a:t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2952750" y="3333750"/>
            <a:ext cx="1543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E6670"/>
                </a:solidFill>
              </a:rPr>
              <a:t>Linux package • interfaces • test coverage</a:t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4914900" y="1809750"/>
            <a:ext cx="1847850" cy="28575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5067300" y="1981200"/>
            <a:ext cx="1543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76D2"/>
                </a:solidFill>
              </a:rPr>
              <a:t>M7–12</a:t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5067300" y="2476500"/>
            <a:ext cx="1543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111"/>
                </a:solidFill>
              </a:rPr>
              <a:t>Prototype Android gateway</a:t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5067300" y="3333750"/>
            <a:ext cx="1543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E6670"/>
                </a:solidFill>
              </a:rPr>
              <a:t>Radio integration • SIP bridge • controlled tests</a:t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7029450" y="1809750"/>
            <a:ext cx="1847850" cy="28575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7181850" y="1981200"/>
            <a:ext cx="1543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76D2"/>
                </a:solidFill>
              </a:rPr>
              <a:t>M13–18</a:t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>
            <a:off x="7181850" y="2476500"/>
            <a:ext cx="1543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111"/>
                </a:solidFill>
              </a:rPr>
              <a:t>Validate paid pilot</a:t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7181850" y="3333750"/>
            <a:ext cx="1543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E6670"/>
                </a:solidFill>
              </a:rPr>
              <a:t>Pricing • support metrics • deployment evidence</a:t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9144000" y="1809750"/>
            <a:ext cx="1847850" cy="28575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9296400" y="1981200"/>
            <a:ext cx="1543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9C8F2"/>
                </a:solidFill>
              </a:rPr>
              <a:t>M19–24</a:t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9296400" y="2476500"/>
            <a:ext cx="1543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Scale selectively</a:t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9296400" y="3333750"/>
            <a:ext cx="15430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</a:rPr>
              <a:t>Desktop targets • partner playbook • regional plan</a:t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685800" y="5143500"/>
            <a:ext cx="10820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B56A00"/>
                </a:solidFill>
              </a:rPr>
              <a:t>Milestones are proposed and require founder approval before submission.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397" name="Google Shape;397;p18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Financial projections remain placeholders until founders confirm assumptions</a:t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16</a:t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685800" y="1657350"/>
            <a:ext cx="10820400" cy="457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800100" y="1657350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INPUT</a:t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3829050" y="165735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YEAR 1</a:t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5543550" y="165735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YEAR 2</a:t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7258050" y="1657350"/>
            <a:ext cx="424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SOURCE / CONFIRMATION</a:t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800100" y="2324100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11111"/>
                </a:solidFill>
              </a:rPr>
              <a:t>Managed gateways</a:t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3829050" y="232410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[TBD]</a:t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5543550" y="232410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[TBD]</a:t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7258050" y="2324100"/>
            <a:ext cx="424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111"/>
                </a:solidFill>
              </a:rPr>
              <a:t>Pilot + sales plan</a:t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685800" y="2857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800100" y="2990850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11111"/>
                </a:solidFill>
              </a:rPr>
              <a:t>Average recurring revenue / gateway</a:t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3829050" y="299085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[TBD]</a:t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5543550" y="299085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[TBD]</a:t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7258050" y="2990850"/>
            <a:ext cx="424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111"/>
                </a:solidFill>
              </a:rPr>
              <a:t>Pricing interview</a:t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685800" y="352425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800100" y="3657600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11111"/>
                </a:solidFill>
              </a:rPr>
              <a:t>Implementation &amp; support revenue</a:t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3829050" y="365760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[TBD]</a:t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5543550" y="365760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[TBD]</a:t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7258050" y="3657600"/>
            <a:ext cx="424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111"/>
                </a:solidFill>
              </a:rPr>
              <a:t>Service scope</a:t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685800" y="41910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800100" y="4324350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11111"/>
                </a:solidFill>
              </a:rPr>
              <a:t>Engineering / cloud / support cost</a:t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3829050" y="432435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[TBD]</a:t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5543550" y="432435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[TBD]</a:t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7258050" y="4324350"/>
            <a:ext cx="424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111"/>
                </a:solidFill>
              </a:rPr>
              <a:t>Hiring + infrastructure</a:t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685800" y="485775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800100" y="4991100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11111"/>
                </a:solidFill>
              </a:rPr>
              <a:t>Gross margin / cash requirement</a:t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3829050" y="499110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[CALCULATE]</a:t>
            </a:r>
            <a:endParaRPr/>
          </a:p>
        </p:txBody>
      </p:sp>
      <p:sp>
        <p:nvSpPr>
          <p:cNvPr id="428" name="Google Shape;428;p18"/>
          <p:cNvSpPr/>
          <p:nvPr/>
        </p:nvSpPr>
        <p:spPr>
          <a:xfrm>
            <a:off x="5543550" y="4991100"/>
            <a:ext cx="14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B56A00"/>
                </a:solidFill>
              </a:rPr>
              <a:t>[CALCULATE]</a:t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7258050" y="4991100"/>
            <a:ext cx="424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111"/>
                </a:solidFill>
              </a:rPr>
              <a:t>Derived after inputs</a:t>
            </a: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685800" y="5524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685800" y="5810250"/>
            <a:ext cx="10820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B23A48"/>
                </a:solidFill>
              </a:rPr>
              <a:t>No revenue, funding, valuation, customer count or break-even claim is made in this draft.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"/>
          <p:cNvSpPr/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976D2"/>
                </a:solidFill>
              </a:rPr>
              <a:t>NATIVEMIND × gostSIMBOX</a:t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685800" y="6477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11111"/>
                </a:solidFill>
              </a:rPr>
              <a:t>gostSIMBOX fits the SMART S narrative—subject to four confirmations</a:t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685800" y="1333500"/>
            <a:ext cx="108204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9"/>
          <p:cNvSpPr/>
          <p:nvPr/>
        </p:nvSpPr>
        <p:spPr>
          <a:xfrm>
            <a:off x="685800" y="64198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6670"/>
                </a:solidFill>
              </a:rPr>
              <a:t>SMART S 2026 • QUALIFICATION ENDORSEMENT DECK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11049000" y="64008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E6670"/>
                </a:solidFill>
              </a:rPr>
              <a:t>17</a:t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685800" y="171450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9C8F2"/>
                </a:solidFill>
              </a:rPr>
              <a:t>01</a:t>
            </a:r>
            <a:endParaRPr/>
          </a:p>
        </p:txBody>
      </p:sp>
      <p:sp>
        <p:nvSpPr>
          <p:cNvPr id="443" name="Google Shape;443;p19"/>
          <p:cNvSpPr/>
          <p:nvPr/>
        </p:nvSpPr>
        <p:spPr>
          <a:xfrm>
            <a:off x="1352550" y="171450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STARTUP CERTIFICATION</a:t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1352550" y="2152650"/>
            <a:ext cx="4476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Innovation + technology + revenue scale-up</a:t>
            </a: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685800" y="3095625"/>
            <a:ext cx="49530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9"/>
          <p:cNvSpPr/>
          <p:nvPr/>
        </p:nvSpPr>
        <p:spPr>
          <a:xfrm>
            <a:off x="6096000" y="171450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9C8F2"/>
                </a:solidFill>
              </a:rPr>
              <a:t>02</a:t>
            </a:r>
            <a:endParaRPr/>
          </a:p>
        </p:txBody>
      </p:sp>
      <p:sp>
        <p:nvSpPr>
          <p:cNvPr id="447" name="Google Shape;447;p19"/>
          <p:cNvSpPr/>
          <p:nvPr/>
        </p:nvSpPr>
        <p:spPr>
          <a:xfrm>
            <a:off x="6762750" y="171450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APPLICANT</a:t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6762750" y="2152650"/>
            <a:ext cx="4476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≥25% shareholding or director status</a:t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6096000" y="3095625"/>
            <a:ext cx="49530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685800" y="352425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9C8F2"/>
                </a:solidFill>
              </a:rPr>
              <a:t>03</a:t>
            </a: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1352550" y="352425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FINANCIAL / INSURANCE</a:t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1352550" y="3962400"/>
            <a:ext cx="4476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THB 600,000 held ≥3 months + full-period insurance</a:t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685800" y="4905375"/>
            <a:ext cx="49530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9"/>
          <p:cNvSpPr/>
          <p:nvPr/>
        </p:nvSpPr>
        <p:spPr>
          <a:xfrm>
            <a:off x="6096000" y="3524250"/>
            <a:ext cx="476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9C8F2"/>
                </a:solidFill>
              </a:rPr>
              <a:t>04</a:t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6762750" y="352425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976D2"/>
                </a:solidFill>
              </a:rPr>
              <a:t>COMPANY–PRODUCT LINK</a:t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6762750" y="3962400"/>
            <a:ext cx="4476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11111"/>
                </a:solidFill>
              </a:rPr>
              <a:t>Documented ownership, license and active commercialization</a:t>
            </a:r>
            <a:endParaRPr/>
          </a:p>
        </p:txBody>
      </p:sp>
      <p:sp>
        <p:nvSpPr>
          <p:cNvPr id="457" name="Google Shape;457;p19"/>
          <p:cNvSpPr/>
          <p:nvPr/>
        </p:nvSpPr>
        <p:spPr>
          <a:xfrm>
            <a:off x="6096000" y="4905375"/>
            <a:ext cx="4953000" cy="19050"/>
          </a:xfrm>
          <a:prstGeom prst="rect">
            <a:avLst/>
          </a:prstGeom>
          <a:solidFill>
            <a:srgbClr val="BBC2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9"/>
          <p:cNvSpPr/>
          <p:nvPr/>
        </p:nvSpPr>
        <p:spPr>
          <a:xfrm>
            <a:off x="685800" y="5524500"/>
            <a:ext cx="10820400" cy="51435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876300" y="5524500"/>
            <a:ext cx="10439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NEXT DECISION  •  Confirm IP + product scope, then complete market, pricing and finance evidence.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